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72" r:id="rId5"/>
    <p:sldId id="273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F3D6-988C-490E-82AC-72B7F1828758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6C0FEFC-3D0A-4C91-96C8-42BC14763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269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F3D6-988C-490E-82AC-72B7F1828758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FEFC-3D0A-4C91-96C8-42BC14763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378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F3D6-988C-490E-82AC-72B7F1828758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6C0FEFC-3D0A-4C91-96C8-42BC14763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7639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F3D6-988C-490E-82AC-72B7F1828758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6C0FEFC-3D0A-4C91-96C8-42BC14763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109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F3D6-988C-490E-82AC-72B7F1828758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6C0FEFC-3D0A-4C91-96C8-42BC14763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3134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F3D6-988C-490E-82AC-72B7F1828758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FEFC-3D0A-4C91-96C8-42BC14763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6289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F3D6-988C-490E-82AC-72B7F1828758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FEFC-3D0A-4C91-96C8-42BC14763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0431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F3D6-988C-490E-82AC-72B7F1828758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FEFC-3D0A-4C91-96C8-42BC14763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2886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F3D6-988C-490E-82AC-72B7F1828758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6C0FEFC-3D0A-4C91-96C8-42BC14763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0603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F3D6-988C-490E-82AC-72B7F1828758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6C0FEFC-3D0A-4C91-96C8-42BC14763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1156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F3D6-988C-490E-82AC-72B7F1828758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6C0FEFC-3D0A-4C91-96C8-42BC14763E52}" type="slidenum">
              <a:rPr lang="it-IT" smtClean="0"/>
              <a:t>‹N›</a:t>
            </a:fld>
            <a:endParaRPr lang="it-IT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1219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F3D6-988C-490E-82AC-72B7F1828758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6C0FEFC-3D0A-4C91-96C8-42BC14763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50062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F3D6-988C-490E-82AC-72B7F1828758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6C0FEFC-3D0A-4C91-96C8-42BC14763E52}" type="slidenum">
              <a:rPr lang="it-IT" smtClean="0"/>
              <a:t>‹N›</a:t>
            </a:fld>
            <a:endParaRPr lang="it-IT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4510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F3D6-988C-490E-82AC-72B7F1828758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6C0FEFC-3D0A-4C91-96C8-42BC14763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0486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F3D6-988C-490E-82AC-72B7F1828758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FEFC-3D0A-4C91-96C8-42BC14763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3763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F3D6-988C-490E-82AC-72B7F1828758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FEFC-3D0A-4C91-96C8-42BC14763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2326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EF3D6-988C-490E-82AC-72B7F1828758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6C0FEFC-3D0A-4C91-96C8-42BC14763E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8059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C76613-1D60-800E-5AED-77332030CB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/>
              <a:t>Least</a:t>
            </a:r>
            <a:r>
              <a:rPr lang="it-IT" dirty="0"/>
              <a:t> </a:t>
            </a:r>
            <a:r>
              <a:rPr lang="it-IT" dirty="0" err="1"/>
              <a:t>squares</a:t>
            </a:r>
            <a:r>
              <a:rPr lang="it-IT" dirty="0"/>
              <a:t> </a:t>
            </a:r>
            <a:r>
              <a:rPr lang="it-IT" dirty="0" err="1"/>
              <a:t>algorithm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1705CE2-E024-F0CA-C295-99502B7F85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Project </a:t>
            </a:r>
            <a:r>
              <a:rPr lang="it-IT" dirty="0" err="1"/>
              <a:t>Discussion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0714AB7-9E83-C56D-3528-C64ED92E1A8D}"/>
              </a:ext>
            </a:extLst>
          </p:cNvPr>
          <p:cNvSpPr txBox="1"/>
          <p:nvPr/>
        </p:nvSpPr>
        <p:spPr>
          <a:xfrm>
            <a:off x="8652387" y="6115665"/>
            <a:ext cx="2015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Fabio La Falce</a:t>
            </a:r>
          </a:p>
          <a:p>
            <a:r>
              <a:rPr lang="it-IT" dirty="0"/>
              <a:t>Giacomo Raffo</a:t>
            </a:r>
          </a:p>
        </p:txBody>
      </p:sp>
    </p:spTree>
    <p:extLst>
      <p:ext uri="{BB962C8B-B14F-4D97-AF65-F5344CB8AC3E}">
        <p14:creationId xmlns:p14="http://schemas.microsoft.com/office/powerpoint/2010/main" val="3534548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B02140-015D-FB5F-D1F0-C655AAA90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Syllabus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B73BF4-7363-5BC3-6C9A-E13515049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4631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63D2E8-00C6-21DD-0DE4-38A5F1727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Algorithm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EC098B0-7DC2-EFE3-775A-097D7B920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INPUT: Matrix A (M x N), </a:t>
            </a:r>
            <a:r>
              <a:rPr lang="it-IT" dirty="0" err="1"/>
              <a:t>Vector</a:t>
            </a:r>
            <a:r>
              <a:rPr lang="it-IT" dirty="0"/>
              <a:t> b (M)</a:t>
            </a:r>
          </a:p>
          <a:p>
            <a:r>
              <a:rPr lang="it-IT" dirty="0"/>
              <a:t>OUTPUT: </a:t>
            </a:r>
            <a:r>
              <a:rPr lang="it-IT" dirty="0" err="1"/>
              <a:t>Vector</a:t>
            </a:r>
            <a:r>
              <a:rPr lang="it-IT" dirty="0"/>
              <a:t> x (N)</a:t>
            </a:r>
          </a:p>
          <a:p>
            <a:endParaRPr lang="it-IT" dirty="0"/>
          </a:p>
          <a:p>
            <a:pPr marL="0" indent="0">
              <a:buNone/>
            </a:pPr>
            <a:r>
              <a:rPr lang="it-IT" dirty="0"/>
              <a:t>	1. Copy </a:t>
            </a:r>
            <a:r>
              <a:rPr lang="it-IT" dirty="0" err="1"/>
              <a:t>matrix</a:t>
            </a:r>
            <a:r>
              <a:rPr lang="it-IT" dirty="0"/>
              <a:t> A </a:t>
            </a:r>
            <a:r>
              <a:rPr lang="it-IT" dirty="0" err="1"/>
              <a:t>into</a:t>
            </a:r>
            <a:r>
              <a:rPr lang="it-IT" dirty="0"/>
              <a:t> R and </a:t>
            </a:r>
            <a:r>
              <a:rPr lang="it-IT" dirty="0" err="1"/>
              <a:t>vector</a:t>
            </a:r>
            <a:r>
              <a:rPr lang="it-IT" dirty="0"/>
              <a:t> b </a:t>
            </a:r>
            <a:r>
              <a:rPr lang="it-IT" dirty="0" err="1"/>
              <a:t>into</a:t>
            </a:r>
            <a:r>
              <a:rPr lang="it-IT" dirty="0"/>
              <a:t> y</a:t>
            </a:r>
          </a:p>
          <a:p>
            <a:pPr marL="0" indent="0">
              <a:buNone/>
            </a:pPr>
            <a:r>
              <a:rPr lang="it-IT" dirty="0"/>
              <a:t>	2. </a:t>
            </a:r>
            <a:r>
              <a:rPr lang="it-IT" dirty="0" err="1"/>
              <a:t>Execute</a:t>
            </a:r>
            <a:r>
              <a:rPr lang="it-IT" dirty="0"/>
              <a:t> QR_FACTORIZATION(R, y)</a:t>
            </a:r>
          </a:p>
          <a:p>
            <a:pPr marL="0" indent="0">
              <a:buNone/>
            </a:pPr>
            <a:r>
              <a:rPr lang="it-IT" dirty="0"/>
              <a:t>	3. x = BACK_SUBSTITUTION(R, y)</a:t>
            </a:r>
          </a:p>
          <a:p>
            <a:pPr marL="0" indent="0">
              <a:buNone/>
            </a:pPr>
            <a:r>
              <a:rPr lang="it-IT" dirty="0"/>
              <a:t>	4. Return x</a:t>
            </a:r>
          </a:p>
        </p:txBody>
      </p:sp>
    </p:spTree>
    <p:extLst>
      <p:ext uri="{BB962C8B-B14F-4D97-AF65-F5344CB8AC3E}">
        <p14:creationId xmlns:p14="http://schemas.microsoft.com/office/powerpoint/2010/main" val="1496003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D4F516-4613-A6A1-1C70-A064487AE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Algorithm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FFFE1D1-ABE7-2379-0A75-6AE506C04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QR_FACTORIZATION(R, y, </a:t>
            </a:r>
            <a:r>
              <a:rPr lang="it-IT" dirty="0" err="1"/>
              <a:t>Nthreads</a:t>
            </a:r>
            <a:r>
              <a:rPr lang="it-IT" dirty="0"/>
              <a:t>):</a:t>
            </a:r>
          </a:p>
          <a:p>
            <a:pPr marL="0" indent="0">
              <a:buNone/>
            </a:pPr>
            <a:r>
              <a:rPr lang="it-IT" dirty="0"/>
              <a:t>	For k from 0 to min(N-1, M-1):</a:t>
            </a:r>
          </a:p>
          <a:p>
            <a:pPr marL="0" indent="0">
              <a:buNone/>
            </a:pPr>
            <a:r>
              <a:rPr lang="it-IT" dirty="0"/>
              <a:t>	 1. v = COMPUTE_HOUSEHOLDER_VECTOR(R, k)</a:t>
            </a:r>
          </a:p>
          <a:p>
            <a:pPr marL="0" indent="0">
              <a:buNone/>
            </a:pPr>
            <a:r>
              <a:rPr lang="it-IT" dirty="0"/>
              <a:t>	 2. Divide </a:t>
            </a:r>
            <a:r>
              <a:rPr lang="it-IT" dirty="0" err="1"/>
              <a:t>columns</a:t>
            </a:r>
            <a:r>
              <a:rPr lang="it-IT" dirty="0"/>
              <a:t> from k to N-1 </a:t>
            </a:r>
            <a:r>
              <a:rPr lang="it-IT" dirty="0" err="1"/>
              <a:t>among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</a:t>
            </a:r>
            <a:r>
              <a:rPr lang="it-IT" dirty="0" err="1"/>
              <a:t>threads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	 3. PARALLEL_FOR (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thread</a:t>
            </a:r>
            <a:r>
              <a:rPr lang="it-IT" dirty="0"/>
              <a:t> t):</a:t>
            </a:r>
          </a:p>
          <a:p>
            <a:pPr marL="0" indent="0">
              <a:buNone/>
            </a:pPr>
            <a:r>
              <a:rPr lang="it-IT" dirty="0"/>
              <a:t>	      Update </a:t>
            </a:r>
            <a:r>
              <a:rPr lang="it-IT" dirty="0" err="1"/>
              <a:t>assigned</a:t>
            </a:r>
            <a:r>
              <a:rPr lang="it-IT" dirty="0"/>
              <a:t> </a:t>
            </a:r>
            <a:r>
              <a:rPr lang="it-IT" dirty="0" err="1"/>
              <a:t>columns</a:t>
            </a:r>
            <a:r>
              <a:rPr lang="it-IT" dirty="0"/>
              <a:t> in R: R = (I - 2vvᵀ)R</a:t>
            </a:r>
          </a:p>
          <a:p>
            <a:pPr marL="0" indent="0">
              <a:buNone/>
            </a:pPr>
            <a:r>
              <a:rPr lang="it-IT" dirty="0"/>
              <a:t>	  4. </a:t>
            </a:r>
            <a:r>
              <a:rPr lang="it-IT" dirty="0" err="1"/>
              <a:t>Synchronize</a:t>
            </a:r>
            <a:r>
              <a:rPr lang="it-IT" dirty="0"/>
              <a:t> </a:t>
            </a:r>
            <a:r>
              <a:rPr lang="it-IT" dirty="0" err="1"/>
              <a:t>threads</a:t>
            </a:r>
            <a:r>
              <a:rPr lang="it-IT" dirty="0"/>
              <a:t> (Join)</a:t>
            </a:r>
          </a:p>
          <a:p>
            <a:pPr marL="0" indent="0">
              <a:buNone/>
            </a:pPr>
            <a:r>
              <a:rPr lang="it-IT" dirty="0"/>
              <a:t>	  5. Update </a:t>
            </a:r>
            <a:r>
              <a:rPr lang="it-IT" dirty="0" err="1"/>
              <a:t>vector</a:t>
            </a:r>
            <a:r>
              <a:rPr lang="it-IT" dirty="0"/>
              <a:t> y: y = (I - 2vvᵀ)y</a:t>
            </a:r>
          </a:p>
        </p:txBody>
      </p:sp>
    </p:spTree>
    <p:extLst>
      <p:ext uri="{BB962C8B-B14F-4D97-AF65-F5344CB8AC3E}">
        <p14:creationId xmlns:p14="http://schemas.microsoft.com/office/powerpoint/2010/main" val="1109460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4B83D6-09AF-143B-5A84-7D0E320DE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Algorithm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BD0FA33-D54F-8959-7B16-79AFC2C01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COMPUTE_HOUSEHOLDER_VECTOR(R, k):</a:t>
            </a:r>
          </a:p>
          <a:p>
            <a:pPr marL="0" indent="0">
              <a:buNone/>
            </a:pPr>
            <a:r>
              <a:rPr lang="it-IT" dirty="0"/>
              <a:t>	1. </a:t>
            </a:r>
            <a:r>
              <a:rPr lang="it-IT" dirty="0" err="1"/>
              <a:t>Let</a:t>
            </a:r>
            <a:r>
              <a:rPr lang="it-IT" dirty="0"/>
              <a:t> x be the k-</a:t>
            </a:r>
            <a:r>
              <a:rPr lang="it-IT" dirty="0" err="1"/>
              <a:t>th</a:t>
            </a:r>
            <a:r>
              <a:rPr lang="it-IT" dirty="0"/>
              <a:t> </a:t>
            </a:r>
            <a:r>
              <a:rPr lang="it-IT" dirty="0" err="1"/>
              <a:t>column</a:t>
            </a:r>
            <a:r>
              <a:rPr lang="it-IT" dirty="0"/>
              <a:t> of R (from </a:t>
            </a:r>
            <a:r>
              <a:rPr lang="it-IT" dirty="0" err="1"/>
              <a:t>row</a:t>
            </a:r>
            <a:r>
              <a:rPr lang="it-IT" dirty="0"/>
              <a:t> k to M-1)</a:t>
            </a:r>
          </a:p>
          <a:p>
            <a:pPr marL="0" indent="0">
              <a:buNone/>
            </a:pPr>
            <a:r>
              <a:rPr lang="it-IT" dirty="0"/>
              <a:t>	2. </a:t>
            </a:r>
            <a:r>
              <a:rPr lang="it-IT" dirty="0" err="1"/>
              <a:t>norm_x</a:t>
            </a:r>
            <a:r>
              <a:rPr lang="it-IT" dirty="0"/>
              <a:t> = ||x||₂</a:t>
            </a:r>
          </a:p>
          <a:p>
            <a:pPr marL="0" indent="0">
              <a:buNone/>
            </a:pPr>
            <a:r>
              <a:rPr lang="it-IT" dirty="0"/>
              <a:t>	3. </a:t>
            </a:r>
            <a:r>
              <a:rPr lang="el-GR" dirty="0"/>
              <a:t>α = -</a:t>
            </a:r>
            <a:r>
              <a:rPr lang="it-IT" dirty="0" err="1"/>
              <a:t>sgn</a:t>
            </a:r>
            <a:r>
              <a:rPr lang="it-IT" dirty="0"/>
              <a:t>(R[k][k]) * </a:t>
            </a:r>
            <a:r>
              <a:rPr lang="it-IT" dirty="0" err="1"/>
              <a:t>norm_x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	4. v = </a:t>
            </a:r>
            <a:r>
              <a:rPr lang="it-IT" dirty="0" err="1"/>
              <a:t>vector</a:t>
            </a:r>
            <a:r>
              <a:rPr lang="it-IT" dirty="0"/>
              <a:t> of </a:t>
            </a:r>
            <a:r>
              <a:rPr lang="it-IT" dirty="0" err="1"/>
              <a:t>zeros</a:t>
            </a:r>
            <a:r>
              <a:rPr lang="it-IT" dirty="0"/>
              <a:t>; v[k] = R[k][k] - </a:t>
            </a:r>
            <a:r>
              <a:rPr lang="el-GR" dirty="0"/>
              <a:t>α</a:t>
            </a:r>
          </a:p>
          <a:p>
            <a:pPr marL="0" indent="0">
              <a:buNone/>
            </a:pPr>
            <a:r>
              <a:rPr lang="it-IT" dirty="0"/>
              <a:t>	</a:t>
            </a:r>
            <a:r>
              <a:rPr lang="el-GR" dirty="0"/>
              <a:t>5. </a:t>
            </a:r>
            <a:r>
              <a:rPr lang="it-IT" dirty="0"/>
              <a:t>Copy </a:t>
            </a:r>
            <a:r>
              <a:rPr lang="it-IT" dirty="0" err="1"/>
              <a:t>remaining</a:t>
            </a:r>
            <a:r>
              <a:rPr lang="it-IT" dirty="0"/>
              <a:t> </a:t>
            </a:r>
            <a:r>
              <a:rPr lang="it-IT" dirty="0" err="1"/>
              <a:t>elements</a:t>
            </a:r>
            <a:r>
              <a:rPr lang="it-IT" dirty="0"/>
              <a:t>: v[i] = R[i][k] for i &gt; k</a:t>
            </a:r>
          </a:p>
          <a:p>
            <a:pPr marL="0" indent="0">
              <a:buNone/>
            </a:pPr>
            <a:r>
              <a:rPr lang="it-IT" dirty="0"/>
              <a:t>	6. </a:t>
            </a:r>
            <a:r>
              <a:rPr lang="it-IT" dirty="0" err="1"/>
              <a:t>Normalize</a:t>
            </a:r>
            <a:r>
              <a:rPr lang="it-IT" dirty="0"/>
              <a:t>: v = v / ||v||₂</a:t>
            </a:r>
          </a:p>
          <a:p>
            <a:pPr marL="0" indent="0">
              <a:buNone/>
            </a:pPr>
            <a:r>
              <a:rPr lang="it-IT" dirty="0"/>
              <a:t>	7. Return v</a:t>
            </a:r>
          </a:p>
        </p:txBody>
      </p:sp>
    </p:spTree>
    <p:extLst>
      <p:ext uri="{BB962C8B-B14F-4D97-AF65-F5344CB8AC3E}">
        <p14:creationId xmlns:p14="http://schemas.microsoft.com/office/powerpoint/2010/main" val="3382831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077DD9-88F7-94F5-1959-9FD70BD8E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600" dirty="0"/>
              <a:t>Goals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1FF457A-6667-738B-5303-E3250AB74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809136"/>
            <a:ext cx="4032096" cy="3815941"/>
          </a:xfrm>
        </p:spPr>
        <p:txBody>
          <a:bodyPr/>
          <a:lstStyle/>
          <a:p>
            <a:pPr marL="0" indent="0">
              <a:buNone/>
            </a:pPr>
            <a:r>
              <a:rPr lang="it-IT" dirty="0" err="1"/>
              <a:t>Execution</a:t>
            </a:r>
            <a:r>
              <a:rPr lang="it-IT" dirty="0"/>
              <a:t> Time &lt; 10 seconds 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Input </a:t>
            </a:r>
            <a:r>
              <a:rPr lang="it-IT" dirty="0" err="1"/>
              <a:t>matrix</a:t>
            </a:r>
            <a:r>
              <a:rPr lang="it-IT" dirty="0"/>
              <a:t> A: 4000x3000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79172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F6B42D-A1AF-40A2-F623-E567453BDD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CPU </a:t>
            </a:r>
            <a:r>
              <a:rPr lang="it-IT" dirty="0" err="1"/>
              <a:t>Implementation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BB4FB11-6CF4-B017-A672-A7E131FB42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8968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9432B8-2AD2-7A4B-533F-8D0080C2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Hardware </a:t>
            </a:r>
            <a:r>
              <a:rPr lang="it-IT" dirty="0" err="1"/>
              <a:t>details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AE70FC-D76C-19E4-20B6-9BC0587C0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5501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A6B9FD-1CA4-8947-DA75-01A736901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First </a:t>
            </a:r>
            <a:r>
              <a:rPr lang="it-IT" dirty="0" err="1"/>
              <a:t>Execution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E9F77CD-6990-89AE-BFB1-A6B0213E0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7802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E98344-FB5E-853C-0203-6EBF67969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Execution</a:t>
            </a:r>
            <a:r>
              <a:rPr lang="it-IT" dirty="0"/>
              <a:t> Time</a:t>
            </a:r>
            <a:br>
              <a:rPr lang="it-IT" dirty="0"/>
            </a:br>
            <a:r>
              <a:rPr lang="it-IT" sz="1800" dirty="0"/>
              <a:t>First </a:t>
            </a:r>
            <a:r>
              <a:rPr lang="it-IT" sz="1800" dirty="0" err="1"/>
              <a:t>verision</a:t>
            </a:r>
            <a:endParaRPr lang="it-IT" sz="18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08FCC6-5878-B0B8-4F41-59ADE3F2E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7502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317B33-7714-4752-8DC2-AACEF4B49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Speedup</a:t>
            </a:r>
            <a:br>
              <a:rPr lang="it-IT" dirty="0"/>
            </a:br>
            <a:r>
              <a:rPr lang="it-IT" sz="1800" dirty="0"/>
              <a:t>First </a:t>
            </a:r>
            <a:r>
              <a:rPr lang="it-IT" sz="1800" dirty="0" err="1"/>
              <a:t>version</a:t>
            </a:r>
            <a:endParaRPr lang="it-IT" sz="18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419568-7891-6E0A-22E4-0707DC0CB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3292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58B5F9-6B1E-D2B2-AB76-72AB8F72D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CPU </a:t>
            </a:r>
            <a:r>
              <a:rPr lang="it-IT" dirty="0" err="1"/>
              <a:t>Utilization</a:t>
            </a:r>
            <a:br>
              <a:rPr lang="it-IT" dirty="0"/>
            </a:br>
            <a:r>
              <a:rPr lang="it-IT" sz="1800" dirty="0"/>
              <a:t>First </a:t>
            </a:r>
            <a:r>
              <a:rPr lang="it-IT" sz="1800" dirty="0" err="1"/>
              <a:t>version</a:t>
            </a:r>
            <a:endParaRPr lang="it-IT" sz="18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D14A8B0-2495-4C17-84EA-DC4D192DF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4667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EF1DC8-3424-6DB1-53D2-899D97B13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Optimization</a:t>
            </a:r>
            <a:r>
              <a:rPr lang="it-IT" dirty="0"/>
              <a:t> #1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D5DBA4-85C9-F66F-352A-68366BF986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it-IT" b="1" dirty="0"/>
              <a:t>Memory Layout: </a:t>
            </a:r>
            <a:r>
              <a:rPr lang="it-IT" b="1" dirty="0" err="1"/>
              <a:t>Column</a:t>
            </a:r>
            <a:r>
              <a:rPr lang="it-IT" b="1" dirty="0"/>
              <a:t>-major </a:t>
            </a:r>
            <a:r>
              <a:rPr lang="it-IT" b="1" dirty="0" err="1"/>
              <a:t>order</a:t>
            </a:r>
            <a:endParaRPr lang="it-IT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it-IT" dirty="0" err="1"/>
              <a:t>Matrices</a:t>
            </a:r>
            <a:r>
              <a:rPr lang="it-IT" dirty="0"/>
              <a:t> are </a:t>
            </a:r>
            <a:r>
              <a:rPr lang="it-IT" dirty="0" err="1"/>
              <a:t>now</a:t>
            </a:r>
            <a:r>
              <a:rPr lang="it-IT" dirty="0"/>
              <a:t> </a:t>
            </a:r>
            <a:r>
              <a:rPr lang="it-IT" dirty="0" err="1"/>
              <a:t>stored</a:t>
            </a:r>
            <a:r>
              <a:rPr lang="it-IT" dirty="0"/>
              <a:t> in an array of </a:t>
            </a:r>
            <a:r>
              <a:rPr lang="it-IT" dirty="0" err="1"/>
              <a:t>dimension</a:t>
            </a:r>
            <a:r>
              <a:rPr lang="it-IT" dirty="0"/>
              <a:t> M*N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it-IT" dirty="0" err="1"/>
              <a:t>Householder</a:t>
            </a:r>
            <a:r>
              <a:rPr lang="it-IT" dirty="0"/>
              <a:t> </a:t>
            </a:r>
            <a:r>
              <a:rPr lang="it-IT" dirty="0" err="1"/>
              <a:t>algorithm</a:t>
            </a:r>
            <a:r>
              <a:rPr lang="it-IT" dirty="0"/>
              <a:t> </a:t>
            </a:r>
            <a:r>
              <a:rPr lang="it-IT" dirty="0" err="1"/>
              <a:t>processes</a:t>
            </a:r>
            <a:r>
              <a:rPr lang="it-IT" dirty="0"/>
              <a:t> data </a:t>
            </a:r>
            <a:r>
              <a:rPr lang="it-IT" dirty="0" err="1"/>
              <a:t>column</a:t>
            </a:r>
            <a:r>
              <a:rPr lang="it-IT" dirty="0"/>
              <a:t>-wise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it-IT" dirty="0" err="1"/>
              <a:t>Elements</a:t>
            </a:r>
            <a:r>
              <a:rPr lang="it-IT" dirty="0"/>
              <a:t> in the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column</a:t>
            </a:r>
            <a:r>
              <a:rPr lang="it-IT" dirty="0"/>
              <a:t> are </a:t>
            </a:r>
            <a:r>
              <a:rPr lang="it-IT" dirty="0" err="1"/>
              <a:t>stored</a:t>
            </a:r>
            <a:r>
              <a:rPr lang="it-IT" dirty="0"/>
              <a:t> in </a:t>
            </a:r>
            <a:r>
              <a:rPr lang="it-IT" dirty="0" err="1"/>
              <a:t>contiguos</a:t>
            </a:r>
            <a:r>
              <a:rPr lang="it-IT" dirty="0"/>
              <a:t> </a:t>
            </a:r>
            <a:r>
              <a:rPr lang="it-IT" dirty="0" err="1"/>
              <a:t>memory</a:t>
            </a:r>
            <a:r>
              <a:rPr lang="it-IT" dirty="0"/>
              <a:t> </a:t>
            </a:r>
            <a:r>
              <a:rPr lang="it-IT" dirty="0" err="1"/>
              <a:t>addresses</a:t>
            </a:r>
            <a:endParaRPr lang="it-IT" dirty="0"/>
          </a:p>
          <a:p>
            <a:pPr>
              <a:buFont typeface="Wingdings" panose="05000000000000000000" pitchFamily="2" charset="2"/>
              <a:buChar char="Ø"/>
            </a:pPr>
            <a:r>
              <a:rPr lang="it-IT" dirty="0" err="1"/>
              <a:t>Maximize</a:t>
            </a:r>
            <a:r>
              <a:rPr lang="it-IT" dirty="0"/>
              <a:t> L1/L2 cache hits and </a:t>
            </a:r>
            <a:r>
              <a:rPr lang="it-IT" dirty="0" err="1"/>
              <a:t>minimize</a:t>
            </a:r>
            <a:r>
              <a:rPr lang="it-IT" dirty="0"/>
              <a:t> misses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E1678CB-D161-49D5-720C-78CFD087310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it-IT" b="1" dirty="0" err="1"/>
              <a:t>Thread</a:t>
            </a:r>
            <a:r>
              <a:rPr lang="it-IT" b="1" dirty="0"/>
              <a:t> Pool and </a:t>
            </a:r>
            <a:r>
              <a:rPr lang="it-IT" b="1" dirty="0" err="1"/>
              <a:t>Barriers</a:t>
            </a:r>
            <a:endParaRPr lang="it-IT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it-IT" dirty="0"/>
              <a:t>Worker </a:t>
            </a:r>
            <a:r>
              <a:rPr lang="it-IT" dirty="0" err="1"/>
              <a:t>threads</a:t>
            </a:r>
            <a:r>
              <a:rPr lang="it-IT" dirty="0"/>
              <a:t> </a:t>
            </a:r>
            <a:r>
              <a:rPr lang="it-IT" dirty="0" err="1"/>
              <a:t>wait</a:t>
            </a:r>
            <a:r>
              <a:rPr lang="it-IT" dirty="0"/>
              <a:t> in a loop </a:t>
            </a:r>
            <a:r>
              <a:rPr lang="it-IT" dirty="0" err="1"/>
              <a:t>at</a:t>
            </a:r>
            <a:r>
              <a:rPr lang="it-IT" dirty="0"/>
              <a:t> the </a:t>
            </a:r>
            <a:r>
              <a:rPr lang="it-IT" dirty="0" err="1"/>
              <a:t>barrier</a:t>
            </a:r>
            <a:r>
              <a:rPr lang="it-IT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it-IT" dirty="0" err="1"/>
              <a:t>Main</a:t>
            </a:r>
            <a:r>
              <a:rPr lang="it-IT" dirty="0"/>
              <a:t> </a:t>
            </a:r>
            <a:r>
              <a:rPr lang="it-IT" dirty="0" err="1"/>
              <a:t>thread</a:t>
            </a:r>
            <a:r>
              <a:rPr lang="it-IT" dirty="0"/>
              <a:t> </a:t>
            </a:r>
            <a:r>
              <a:rPr lang="it-IT" dirty="0" err="1"/>
              <a:t>wakes</a:t>
            </a:r>
            <a:r>
              <a:rPr lang="it-IT" dirty="0"/>
              <a:t> up </a:t>
            </a:r>
            <a:r>
              <a:rPr lang="it-IT" dirty="0" err="1"/>
              <a:t>all</a:t>
            </a:r>
            <a:r>
              <a:rPr lang="it-IT" dirty="0"/>
              <a:t> the workers </a:t>
            </a:r>
            <a:r>
              <a:rPr lang="it-IT" dirty="0" err="1"/>
              <a:t>simultaneously</a:t>
            </a:r>
            <a:endParaRPr lang="it-IT" dirty="0"/>
          </a:p>
          <a:p>
            <a:pPr>
              <a:buFont typeface="Wingdings" panose="05000000000000000000" pitchFamily="2" charset="2"/>
              <a:buChar char="Ø"/>
            </a:pPr>
            <a:r>
              <a:rPr lang="it-IT" dirty="0"/>
              <a:t>Worker </a:t>
            </a:r>
            <a:r>
              <a:rPr lang="it-IT" dirty="0" err="1"/>
              <a:t>threads</a:t>
            </a:r>
            <a:r>
              <a:rPr lang="it-IT" dirty="0"/>
              <a:t> </a:t>
            </a:r>
            <a:r>
              <a:rPr lang="it-IT" dirty="0" err="1"/>
              <a:t>process</a:t>
            </a:r>
            <a:r>
              <a:rPr lang="it-IT" dirty="0"/>
              <a:t> </a:t>
            </a:r>
            <a:r>
              <a:rPr lang="it-IT" dirty="0" err="1"/>
              <a:t>their</a:t>
            </a:r>
            <a:r>
              <a:rPr lang="it-IT" dirty="0"/>
              <a:t> </a:t>
            </a:r>
            <a:r>
              <a:rPr lang="it-IT" dirty="0" err="1"/>
              <a:t>assigned</a:t>
            </a:r>
            <a:r>
              <a:rPr lang="it-IT" dirty="0"/>
              <a:t> </a:t>
            </a:r>
            <a:r>
              <a:rPr lang="it-IT" dirty="0" err="1"/>
              <a:t>column</a:t>
            </a:r>
            <a:r>
              <a:rPr lang="it-IT" dirty="0"/>
              <a:t> slices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it-IT" dirty="0" err="1"/>
              <a:t>Main</a:t>
            </a:r>
            <a:r>
              <a:rPr lang="it-IT" dirty="0"/>
              <a:t> </a:t>
            </a:r>
            <a:r>
              <a:rPr lang="it-IT" dirty="0" err="1"/>
              <a:t>thread</a:t>
            </a:r>
            <a:r>
              <a:rPr lang="it-IT" dirty="0"/>
              <a:t> </a:t>
            </a:r>
            <a:r>
              <a:rPr lang="it-IT" dirty="0" err="1"/>
              <a:t>waits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the </a:t>
            </a:r>
            <a:r>
              <a:rPr lang="it-IT" dirty="0" err="1"/>
              <a:t>barrier</a:t>
            </a:r>
            <a:r>
              <a:rPr lang="it-IT" dirty="0"/>
              <a:t> </a:t>
            </a:r>
            <a:r>
              <a:rPr lang="it-IT" dirty="0" err="1"/>
              <a:t>before</a:t>
            </a:r>
            <a:r>
              <a:rPr lang="it-IT" dirty="0"/>
              <a:t> </a:t>
            </a:r>
            <a:r>
              <a:rPr lang="it-IT" dirty="0" err="1"/>
              <a:t>proceeding</a:t>
            </a:r>
            <a:r>
              <a:rPr lang="it-IT" dirty="0"/>
              <a:t> to the </a:t>
            </a:r>
            <a:r>
              <a:rPr lang="it-IT" dirty="0" err="1"/>
              <a:t>next</a:t>
            </a:r>
            <a:r>
              <a:rPr lang="it-IT" dirty="0"/>
              <a:t> step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it-IT" dirty="0" err="1"/>
              <a:t>Eliminates</a:t>
            </a:r>
            <a:r>
              <a:rPr lang="it-IT" dirty="0"/>
              <a:t> </a:t>
            </a:r>
            <a:r>
              <a:rPr lang="it-IT" dirty="0" err="1"/>
              <a:t>thread</a:t>
            </a:r>
            <a:r>
              <a:rPr lang="it-IT" dirty="0"/>
              <a:t> </a:t>
            </a:r>
            <a:r>
              <a:rPr lang="it-IT" dirty="0" err="1"/>
              <a:t>creation</a:t>
            </a:r>
            <a:r>
              <a:rPr lang="it-IT" dirty="0"/>
              <a:t> overhead</a:t>
            </a:r>
          </a:p>
        </p:txBody>
      </p:sp>
    </p:spTree>
    <p:extLst>
      <p:ext uri="{BB962C8B-B14F-4D97-AF65-F5344CB8AC3E}">
        <p14:creationId xmlns:p14="http://schemas.microsoft.com/office/powerpoint/2010/main" val="1802280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970A2B-1F6D-BA58-5CCE-E498FD522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Optimization</a:t>
            </a:r>
            <a:r>
              <a:rPr lang="it-IT" dirty="0"/>
              <a:t> #2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C6F7D83-97BA-DC97-FF7C-D65875225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6622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894A7A-ED3C-3E5C-E721-10475C4B3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Execution</a:t>
            </a:r>
            <a:r>
              <a:rPr lang="it-IT" dirty="0"/>
              <a:t> Time</a:t>
            </a:r>
            <a:br>
              <a:rPr lang="it-IT" dirty="0"/>
            </a:br>
            <a:r>
              <a:rPr lang="it-IT" sz="1800" dirty="0" err="1"/>
              <a:t>Optimized</a:t>
            </a:r>
            <a:r>
              <a:rPr lang="it-IT" sz="1800" dirty="0"/>
              <a:t> </a:t>
            </a:r>
            <a:r>
              <a:rPr lang="it-IT" sz="1800" dirty="0" err="1"/>
              <a:t>version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746262A-2B2A-78AE-A38D-179258CEF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172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BE31A2-EDFD-223C-C7DC-F3E442DAE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Speedup</a:t>
            </a:r>
            <a:br>
              <a:rPr lang="it-IT" dirty="0"/>
            </a:br>
            <a:r>
              <a:rPr lang="it-IT" sz="1800" dirty="0" err="1"/>
              <a:t>Optimized</a:t>
            </a:r>
            <a:r>
              <a:rPr lang="it-IT" sz="1800" dirty="0"/>
              <a:t> </a:t>
            </a:r>
            <a:r>
              <a:rPr lang="it-IT" sz="1800" dirty="0" err="1"/>
              <a:t>version</a:t>
            </a:r>
            <a:endParaRPr lang="it-IT" sz="18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E7AF97B-2A6D-615B-339A-60CFD5B59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0665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219094-F572-9BF7-492E-CD15D151D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Scalability</a:t>
            </a:r>
            <a:br>
              <a:rPr lang="it-IT" dirty="0"/>
            </a:br>
            <a:r>
              <a:rPr lang="it-IT" sz="1800" dirty="0" err="1"/>
              <a:t>Optimized</a:t>
            </a:r>
            <a:r>
              <a:rPr lang="it-IT" sz="1800" dirty="0"/>
              <a:t> </a:t>
            </a:r>
            <a:r>
              <a:rPr lang="it-IT" sz="1800" dirty="0" err="1"/>
              <a:t>version</a:t>
            </a:r>
            <a:endParaRPr lang="it-IT" sz="18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78C506-BCA8-8370-AA5A-8A8B4EB65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8520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CDE6A4-A19E-287C-2492-BD5358DDE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Thanks for the </a:t>
            </a:r>
            <a:r>
              <a:rPr lang="it-IT" dirty="0" err="1"/>
              <a:t>attention</a:t>
            </a:r>
            <a:r>
              <a:rPr lang="it-IT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089409039"/>
      </p:ext>
    </p:extLst>
  </p:cSld>
  <p:clrMapOvr>
    <a:masterClrMapping/>
  </p:clrMapOvr>
</p:sld>
</file>

<file path=ppt/theme/theme1.xml><?xml version="1.0" encoding="utf-8"?>
<a:theme xmlns:a="http://schemas.openxmlformats.org/drawingml/2006/main" name="Filo">
  <a:themeElements>
    <a:clrScheme name="Filo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Fil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il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53</TotalTime>
  <Words>442</Words>
  <Application>Microsoft Office PowerPoint</Application>
  <PresentationFormat>Widescreen</PresentationFormat>
  <Paragraphs>58</Paragraphs>
  <Slides>18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3" baseType="lpstr">
      <vt:lpstr>Arial</vt:lpstr>
      <vt:lpstr>Century Gothic</vt:lpstr>
      <vt:lpstr>Wingdings</vt:lpstr>
      <vt:lpstr>Wingdings 3</vt:lpstr>
      <vt:lpstr>Filo</vt:lpstr>
      <vt:lpstr>Least squares algorithm</vt:lpstr>
      <vt:lpstr>Syllabus</vt:lpstr>
      <vt:lpstr>Algorithm</vt:lpstr>
      <vt:lpstr>Algorithm</vt:lpstr>
      <vt:lpstr>Algorithm</vt:lpstr>
      <vt:lpstr>Goals</vt:lpstr>
      <vt:lpstr>CPU Implementation</vt:lpstr>
      <vt:lpstr>Hardware details</vt:lpstr>
      <vt:lpstr>First Execution</vt:lpstr>
      <vt:lpstr>Execution Time First verision</vt:lpstr>
      <vt:lpstr>Speedup First version</vt:lpstr>
      <vt:lpstr>CPU Utilization First version</vt:lpstr>
      <vt:lpstr>Optimization #1</vt:lpstr>
      <vt:lpstr>Optimization #2</vt:lpstr>
      <vt:lpstr>Execution Time Optimized version</vt:lpstr>
      <vt:lpstr>Speedup Optimized version</vt:lpstr>
      <vt:lpstr>Scalability Optimized version</vt:lpstr>
      <vt:lpstr>Thanks for the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La Falce</dc:creator>
  <cp:lastModifiedBy>Fabio La Falce</cp:lastModifiedBy>
  <cp:revision>1</cp:revision>
  <dcterms:created xsi:type="dcterms:W3CDTF">2026-04-27T20:48:30Z</dcterms:created>
  <dcterms:modified xsi:type="dcterms:W3CDTF">2026-04-27T21:41:40Z</dcterms:modified>
</cp:coreProperties>
</file>